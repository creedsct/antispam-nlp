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23bfd00f0947a0" /><Relationship Type="http://schemas.openxmlformats.org/officeDocument/2006/relationships/extended-properties" Target="/docProps/app.xml" Id="R8b769459c76346df" /><Relationship Type="http://schemas.openxmlformats.org/officeDocument/2006/relationships/officeDocument" Target="/ppt/presentation.xml" Id="R460e44a71dcd48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9006eb3c7f4d71"/>
  </p:sldMasterIdLst>
  <p:notesMasterIdLst>
    <p:notesMasterId xmlns:r="http://schemas.openxmlformats.org/officeDocument/2006/relationships" r:id="R35c4d03d315948ec"/>
  </p:notesMasterIdLst>
  <p:sldIdLst>
    <p:sldId xmlns:r="http://schemas.openxmlformats.org/officeDocument/2006/relationships" id="256" r:id="R77158ef1d1d6486f"/>
    <p:sldId xmlns:r="http://schemas.openxmlformats.org/officeDocument/2006/relationships" id="257" r:id="Rdb088a59f76c43d5"/>
    <p:sldId xmlns:r="http://schemas.openxmlformats.org/officeDocument/2006/relationships" id="258" r:id="R6ea4771a9ba043ef"/>
    <p:sldId xmlns:r="http://schemas.openxmlformats.org/officeDocument/2006/relationships" id="259" r:id="Ra9351798abb84356"/>
    <p:sldId xmlns:r="http://schemas.openxmlformats.org/officeDocument/2006/relationships" id="260" r:id="R2688643dbc664f7d"/>
    <p:sldId xmlns:r="http://schemas.openxmlformats.org/officeDocument/2006/relationships" id="261" r:id="R45868d3b77b441ff"/>
    <p:sldId xmlns:r="http://schemas.openxmlformats.org/officeDocument/2006/relationships" id="262" r:id="R7611f230f532460d"/>
    <p:sldId xmlns:r="http://schemas.openxmlformats.org/officeDocument/2006/relationships" id="263" r:id="Re3f0e50ce4154aaf"/>
    <p:sldId xmlns:r="http://schemas.openxmlformats.org/officeDocument/2006/relationships" id="264" r:id="Rb19a5223c1d945ba"/>
    <p:sldId xmlns:r="http://schemas.openxmlformats.org/officeDocument/2006/relationships" id="265" r:id="R6c6cdf92b3b24b18"/>
    <p:sldId xmlns:r="http://schemas.openxmlformats.org/officeDocument/2006/relationships" id="266" r:id="R16b6cfe87f294d04"/>
    <p:sldId xmlns:r="http://schemas.openxmlformats.org/officeDocument/2006/relationships" id="267" r:id="Rf254937a9e204f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be7bff0da143b8" /><Relationship Type="http://schemas.openxmlformats.org/officeDocument/2006/relationships/slideMaster" Target="/ppt/slideMasters/slideMaster1.xml" Id="R549006eb3c7f4d71" /><Relationship Type="http://schemas.openxmlformats.org/officeDocument/2006/relationships/notesMaster" Target="/ppt/notesMasters/notesMaster1.xml" Id="R35c4d03d315948ec" /><Relationship Type="http://schemas.openxmlformats.org/officeDocument/2006/relationships/presProps" Target="/ppt/presProps.xml" Id="R9e1abffc700f49a8" /><Relationship Type="http://schemas.openxmlformats.org/officeDocument/2006/relationships/tableStyles" Target="/ppt/tableStyles.xml" Id="R59c763c977ff4412" /><Relationship Type="http://schemas.openxmlformats.org/officeDocument/2006/relationships/slide" Target="/ppt/slides/slide1.xml" Id="R77158ef1d1d6486f" /><Relationship Type="http://schemas.openxmlformats.org/officeDocument/2006/relationships/slide" Target="/ppt/slides/slide2.xml" Id="Rdb088a59f76c43d5" /><Relationship Type="http://schemas.openxmlformats.org/officeDocument/2006/relationships/slide" Target="/ppt/slides/slide3.xml" Id="R6ea4771a9ba043ef" /><Relationship Type="http://schemas.openxmlformats.org/officeDocument/2006/relationships/slide" Target="/ppt/slides/slide4.xml" Id="Ra9351798abb84356" /><Relationship Type="http://schemas.openxmlformats.org/officeDocument/2006/relationships/slide" Target="/ppt/slides/slide5.xml" Id="R2688643dbc664f7d" /><Relationship Type="http://schemas.openxmlformats.org/officeDocument/2006/relationships/slide" Target="/ppt/slides/slide6.xml" Id="R45868d3b77b441ff" /><Relationship Type="http://schemas.openxmlformats.org/officeDocument/2006/relationships/slide" Target="/ppt/slides/slide7.xml" Id="R7611f230f532460d" /><Relationship Type="http://schemas.openxmlformats.org/officeDocument/2006/relationships/slide" Target="/ppt/slides/slide8.xml" Id="Re3f0e50ce4154aaf" /><Relationship Type="http://schemas.openxmlformats.org/officeDocument/2006/relationships/slide" Target="/ppt/slides/slide9.xml" Id="Rb19a5223c1d945ba" /><Relationship Type="http://schemas.openxmlformats.org/officeDocument/2006/relationships/slide" Target="/ppt/slides/slide10.xml" Id="R6c6cdf92b3b24b18" /><Relationship Type="http://schemas.openxmlformats.org/officeDocument/2006/relationships/slide" Target="/ppt/slides/slide11.xml" Id="R16b6cfe87f294d04" /><Relationship Type="http://schemas.openxmlformats.org/officeDocument/2006/relationships/slide" Target="/ppt/slides/slide12.xml" Id="Rf254937a9e204f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7bf698a1b742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30b93fa5f14903" /><Relationship Type="http://schemas.openxmlformats.org/officeDocument/2006/relationships/notesMaster" Target="/ppt/notesMasters/notesMaster1.xml" Id="Rb7da2346117e4f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132f71acef4ee6" /><Relationship Type="http://schemas.openxmlformats.org/officeDocument/2006/relationships/notesMaster" Target="/ppt/notesMasters/notesMaster1.xml" Id="Rcc4e7027414440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3f1c288a4549c0" /><Relationship Type="http://schemas.openxmlformats.org/officeDocument/2006/relationships/notesMaster" Target="/ppt/notesMasters/notesMaster1.xml" Id="R5c015f47fc624c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7a7f4f3f3844cc" /><Relationship Type="http://schemas.openxmlformats.org/officeDocument/2006/relationships/notesMaster" Target="/ppt/notesMasters/notesMaster1.xml" Id="R082c4cd3fe9f41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6c27e749784bb6" /><Relationship Type="http://schemas.openxmlformats.org/officeDocument/2006/relationships/notesMaster" Target="/ppt/notesMasters/notesMaster1.xml" Id="R9302b6ff9eb140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e83cd0700b43dd" /><Relationship Type="http://schemas.openxmlformats.org/officeDocument/2006/relationships/notesMaster" Target="/ppt/notesMasters/notesMaster1.xml" Id="Rbe1348d813514d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da62410c504cfa" /><Relationship Type="http://schemas.openxmlformats.org/officeDocument/2006/relationships/notesMaster" Target="/ppt/notesMasters/notesMaster1.xml" Id="R3f13f3f97bfe4b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64d0f562af47a0" /><Relationship Type="http://schemas.openxmlformats.org/officeDocument/2006/relationships/notesMaster" Target="/ppt/notesMasters/notesMaster1.xml" Id="R49ddc9b702444f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b62cd0c2a74e26" /><Relationship Type="http://schemas.openxmlformats.org/officeDocument/2006/relationships/notesMaster" Target="/ppt/notesMasters/notesMaster1.xml" Id="Rb80068730ba54b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b4c23f881e4c67" /><Relationship Type="http://schemas.openxmlformats.org/officeDocument/2006/relationships/notesMaster" Target="/ppt/notesMasters/notesMaster1.xml" Id="R2be5243dfeaf4f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c53db5f2b5400a" /><Relationship Type="http://schemas.openxmlformats.org/officeDocument/2006/relationships/notesMaster" Target="/ppt/notesMasters/notesMaster1.xml" Id="R8b0ac0734bc845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7c9176d7ce47ed" /><Relationship Type="http://schemas.openxmlformats.org/officeDocument/2006/relationships/notesMaster" Target="/ppt/notesMasters/notesMaster1.xml" Id="R30b9173cd20c44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проект по дисциплине «Применение ML в кибербезопасности». Проект подготовлен с помощью ИИ. Перед сдачей автору необходимо проверить результаты и сформулировать собственные выводы.</a:t>
            </a:r>
          </a:p>
          <a:p xmlns:a="http://schemas.openxmlformats.org/drawingml/2006/main">
            <a:r>
              <a:t>Источники: https://spamassassin.apache.org/old/publiccorpus/readme.html</a:t>
            </a:r>
          </a:p>
          <a:p xmlns:a="http://schemas.openxmlformats.org/drawingml/2006/main">
            <a:r>
              <a:t>https://raw.githubusercontent.com/oreilly-japan/ml-security-jp/master/ch02/lingspam_public.tar.gz</a:t>
            </a:r>
          </a:p>
          <a:p xmlns:a="http://schemas.openxmlformats.org/drawingml/2006/main">
            <a:r>
              <a:t>https://scikit-learn.org/stable/modules/feature_extraction.html</a:t>
            </a:r>
          </a:p>
          <a:p xmlns:a="http://schemas.openxmlformats.org/drawingml/2006/main">
            <a:r>
              <a:t>https://scikit-learn.org/stable/modules/naive_bayes.html</a:t>
            </a:r>
          </a:p>
          <a:p xmlns:a="http://schemas.openxmlformats.org/drawingml/2006/main">
            <a:r>
              <a:t>Результаты: reports/metrics.json, reports/test_predictions.csv. Seed=42.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 сдачи нужно подтвердить состав команды. Представленная версия оформлена на одного автора, поскольку сведения о других участниках не предоставлены. Роли описывают работы в проекте, а не подтверждённые вклады участников.</a:t>
            </a:r>
          </a:p>
          <a:p xmlns:a="http://schemas.openxmlformats.org/drawingml/2006/main">
            <a:r>
              <a:t>Источники: https://spamassassin.apache.org/old/publiccorpus/readme.html</a:t>
            </a:r>
          </a:p>
          <a:p xmlns:a="http://schemas.openxmlformats.org/drawingml/2006/main">
            <a:r>
              <a:t>https://raw.githubusercontent.com/oreilly-japan/ml-security-jp/master/ch02/lingspam_public.tar.gz</a:t>
            </a:r>
          </a:p>
          <a:p xmlns:a="http://schemas.openxmlformats.org/drawingml/2006/main">
            <a:r>
              <a:t>https://scikit-learn.org/stable/modules/feature_extraction.html</a:t>
            </a:r>
          </a:p>
          <a:p xmlns:a="http://schemas.openxmlformats.org/drawingml/2006/main">
            <a:r>
              <a:t>https://scikit-learn.org/stable/modules/naive_bayes.html</a:t>
            </a:r>
          </a:p>
          <a:p xmlns:a="http://schemas.openxmlformats.org/drawingml/2006/main">
            <a:r>
              <a:t>Результаты: reports/metrics.json, reports/test_predictions.csv. Seed=42.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SpamAssassin сочетает правила и статистические методы. В проекте сравниваются два доступных базовых классификатора, а не воспроизводится весь продукт SpamAssassin. Трансформер не обучался.</a:t>
            </a:r>
          </a:p>
          <a:p xmlns:a="http://schemas.openxmlformats.org/drawingml/2006/main">
            <a:r>
              <a:t>Источники: https://spamassassin.apache.org/old/publiccorpus/readme.html</a:t>
            </a:r>
          </a:p>
          <a:p xmlns:a="http://schemas.openxmlformats.org/drawingml/2006/main">
            <a:r>
              <a:t>https://raw.githubusercontent.com/oreilly-japan/ml-security-jp/master/ch02/lingspam_public.tar.gz</a:t>
            </a:r>
          </a:p>
          <a:p xmlns:a="http://schemas.openxmlformats.org/drawingml/2006/main">
            <a:r>
              <a:t>https://scikit-learn.org/stable/modules/feature_extraction.html</a:t>
            </a:r>
          </a:p>
          <a:p xmlns:a="http://schemas.openxmlformats.org/drawingml/2006/main">
            <a:r>
              <a:t>https://scikit-learn.org/stable/modules/naive_bayes.html</a:t>
            </a:r>
          </a:p>
          <a:p xmlns:a="http://schemas.openxmlformats.org/drawingml/2006/main">
            <a:r>
              <a:t>Результаты: reports/metrics.json, reports/test_predictions.csv. Seed=42.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Обучающие данные скачаны отдельно. LingSpam используется в варианте bare. Разные варианты обработки LingSpam не смешиваются. Полные хеши файлов приведены в metrics.json. Корпуса исторические и преимущественно англоязычные.</a:t>
            </a:r>
          </a:p>
          <a:p xmlns:a="http://schemas.openxmlformats.org/drawingml/2006/main">
            <a:r>
              <a:t>Источники: https://spamassassin.apache.org/old/publiccorpus/readme.html</a:t>
            </a:r>
          </a:p>
          <a:p xmlns:a="http://schemas.openxmlformats.org/drawingml/2006/main">
            <a:r>
              <a:t>https://raw.githubusercontent.com/oreilly-japan/ml-security-jp/master/ch02/lingspam_public.tar.gz</a:t>
            </a:r>
          </a:p>
          <a:p xmlns:a="http://schemas.openxmlformats.org/drawingml/2006/main">
            <a:r>
              <a:t>https://scikit-learn.org/stable/modules/feature_extraction.html</a:t>
            </a:r>
          </a:p>
          <a:p xmlns:a="http://schemas.openxmlformats.org/drawingml/2006/main">
            <a:r>
              <a:t>https://scikit-learn.org/stable/modules/naive_bayes.html</a:t>
            </a:r>
          </a:p>
          <a:p xmlns:a="http://schemas.openxmlformats.org/drawingml/2006/main">
            <a:r>
              <a:t>Результаты: reports/metrics.json, reports/test_predictions.csv. Seed=42.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Входные архивы читаются через tarfile.extractfile без распаковки на диск. EmailParser декодирует MIME. Из темы и текстового тела формируется строка. Вложения игнорируются, удалённые URL не загружаются. Поля X-Spam и имена папок не используются как признаки. Исключение совпадений с тестом — проверка целостности эксперимента, метки теста для выбора модели не используются. Возможны близкие дубликаты.</a:t>
            </a:r>
          </a:p>
          <a:p xmlns:a="http://schemas.openxmlformats.org/drawingml/2006/main">
            <a:r>
              <a:t>Источники: https://spamassassin.apache.org/old/publiccorpus/readme.html</a:t>
            </a:r>
          </a:p>
          <a:p xmlns:a="http://schemas.openxmlformats.org/drawingml/2006/main">
            <a:r>
              <a:t>https://raw.githubusercontent.com/oreilly-japan/ml-security-jp/master/ch02/lingspam_public.tar.gz</a:t>
            </a:r>
          </a:p>
          <a:p xmlns:a="http://schemas.openxmlformats.org/drawingml/2006/main">
            <a:r>
              <a:t>https://scikit-learn.org/stable/modules/feature_extraction.html</a:t>
            </a:r>
          </a:p>
          <a:p xmlns:a="http://schemas.openxmlformats.org/drawingml/2006/main">
            <a:r>
              <a:t>https://scikit-learn.org/stable/modules/naive_bayes.html</a:t>
            </a:r>
          </a:p>
          <a:p xmlns:a="http://schemas.openxmlformats.org/drawingml/2006/main">
            <a:r>
              <a:t>Результаты: reports/metrics.json, reports/test_predictions.csv. Seed=42.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Кросс-валидация выполняется только на обучающей части из 4900 писем. TF-IDF заново обучается на каждом фолде. Таблица показывает средние при стандартном пороге, не итоговую тестовую оценку. TF-IDF: униграммы и биграммы, min_df=2, max_df=.99, sublinear_tf=True, max_features=60000. ComplementNB alpha=.5. LogisticRegression C=4, max_iter=1000.</a:t>
            </a:r>
          </a:p>
          <a:p xmlns:a="http://schemas.openxmlformats.org/drawingml/2006/main">
            <a:r>
              <a:t>Источники: https://spamassassin.apache.org/old/publiccorpus/readme.html</a:t>
            </a:r>
          </a:p>
          <a:p xmlns:a="http://schemas.openxmlformats.org/drawingml/2006/main">
            <a:r>
              <a:t>https://raw.githubusercontent.com/oreilly-japan/ml-security-jp/master/ch02/lingspam_public.tar.gz</a:t>
            </a:r>
          </a:p>
          <a:p xmlns:a="http://schemas.openxmlformats.org/drawingml/2006/main">
            <a:r>
              <a:t>https://scikit-learn.org/stable/modules/feature_extraction.html</a:t>
            </a:r>
          </a:p>
          <a:p xmlns:a="http://schemas.openxmlformats.org/drawingml/2006/main">
            <a:r>
              <a:t>https://scikit-learn.org/stable/modules/naive_bayes.html</a:t>
            </a:r>
          </a:p>
          <a:p xmlns:a="http://schemas.openxmlformats.org/drawingml/2006/main">
            <a:r>
              <a:t>Результаты: reports/metrics.json, reports/test_predictions.csv. Seed=42.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обеих моделей перебираются пороги от 0.05 до 0.99 с шагом 0.01. Среди вариантов с FPR &lt;= 1% выбирается максимум F1. При равенстве учитываются Precision и более высокий порог. Это эмпирическое ограничение на валидации, а не гарантия. После выбора сохраняется та же модель без дообучения, чтобы не менять шкалу её оценок.</a:t>
            </a:r>
          </a:p>
          <a:p xmlns:a="http://schemas.openxmlformats.org/drawingml/2006/main">
            <a:r>
              <a:t>Источники: https://spamassassin.apache.org/old/publiccorpus/readme.html</a:t>
            </a:r>
          </a:p>
          <a:p xmlns:a="http://schemas.openxmlformats.org/drawingml/2006/main">
            <a:r>
              <a:t>https://raw.githubusercontent.com/oreilly-japan/ml-security-jp/master/ch02/lingspam_public.tar.gz</a:t>
            </a:r>
          </a:p>
          <a:p xmlns:a="http://schemas.openxmlformats.org/drawingml/2006/main">
            <a:r>
              <a:t>https://scikit-learn.org/stable/modules/feature_extraction.html</a:t>
            </a:r>
          </a:p>
          <a:p xmlns:a="http://schemas.openxmlformats.org/drawingml/2006/main">
            <a:r>
              <a:t>https://scikit-learn.org/stable/modules/naive_bayes.html</a:t>
            </a:r>
          </a:p>
          <a:p xmlns:a="http://schemas.openxmlformats.org/drawingml/2006/main">
            <a:r>
              <a:t>Результаты: reports/metrics.json, reports/test_predictions.csv. Seed=42.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Положительный класс — spam. Precision = TP/(TP+FP), Recall = TP/(TP+FN), F1 — гармоническое среднее Precision и Recall. FPR = FP/(FP+TN). Итог: TP=908 FP=6 FN=90 TN=594. В тесте 55 повторных нормализованных текстов: 1598 записей, 1543 уникальных. Метрики считаются по всем непустым записям, как в исходном наборе.</a:t>
            </a:r>
          </a:p>
          <a:p xmlns:a="http://schemas.openxmlformats.org/drawingml/2006/main">
            <a:r>
              <a:t>Источники: https://spamassassin.apache.org/old/publiccorpus/readme.html</a:t>
            </a:r>
          </a:p>
          <a:p xmlns:a="http://schemas.openxmlformats.org/drawingml/2006/main">
            <a:r>
              <a:t>https://raw.githubusercontent.com/oreilly-japan/ml-security-jp/master/ch02/lingspam_public.tar.gz</a:t>
            </a:r>
          </a:p>
          <a:p xmlns:a="http://schemas.openxmlformats.org/drawingml/2006/main">
            <a:r>
              <a:t>https://scikit-learn.org/stable/modules/feature_extraction.html</a:t>
            </a:r>
          </a:p>
          <a:p xmlns:a="http://schemas.openxmlformats.org/drawingml/2006/main">
            <a:r>
              <a:t>https://scikit-learn.org/stable/modules/naive_bayes.html</a:t>
            </a:r>
          </a:p>
          <a:p xmlns:a="http://schemas.openxmlformats.org/drawingml/2006/main">
            <a:r>
              <a:t>Результаты: reports/metrics.json, reports/test_predictions.csv. Seed=42.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Качество на современных письмах не измерялось. Русскоязычная почта не является областью подтверждённого качества. Удаление точных совпадений не исключает тематическую близость и общие источники между корпусами. Сам тест содержит повторы. Высокий Precision не делает систему антивирусом и не подтверждает безопасность ham.</a:t>
            </a:r>
          </a:p>
          <a:p xmlns:a="http://schemas.openxmlformats.org/drawingml/2006/main">
            <a:r>
              <a:t>Источники: https://spamassassin.apache.org/old/publiccorpus/readme.html</a:t>
            </a:r>
          </a:p>
          <a:p xmlns:a="http://schemas.openxmlformats.org/drawingml/2006/main">
            <a:r>
              <a:t>https://raw.githubusercontent.com/oreilly-japan/ml-security-jp/master/ch02/lingspam_public.tar.gz</a:t>
            </a:r>
          </a:p>
          <a:p xmlns:a="http://schemas.openxmlformats.org/drawingml/2006/main">
            <a:r>
              <a:t>https://scikit-learn.org/stable/modules/feature_extraction.html</a:t>
            </a:r>
          </a:p>
          <a:p xmlns:a="http://schemas.openxmlformats.org/drawingml/2006/main">
            <a:r>
              <a:t>https://scikit-learn.org/stable/modules/naive_bayes.html</a:t>
            </a:r>
          </a:p>
          <a:p xmlns:a="http://schemas.openxmlformats.org/drawingml/2006/main">
            <a:r>
              <a:t>Результаты: reports/metrics.json, reports/test_predictions.csv. Seed=42.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реализован на FastAPI. POST /predict принимает JSON с text, возвращает spam_score, label, threshold и экспериментальную категорию. GET /health и /docs. Веб-демо вычисляет ту же модель в браузере на экспортированных весах. Паритет на 1598 тестовых письмах: 0 расхождений меток, максимальная абсолютная ошибка оценки 7.34e-14. Это самостоятельная браузерная публикация, не размещение Docker-контейнера. Dockerfile подготовлен, сборка Docker здесь не проверена из-за отсутствия docker. Адрес демо указан в README.</a:t>
            </a:r>
          </a:p>
          <a:p xmlns:a="http://schemas.openxmlformats.org/drawingml/2006/main">
            <a:r>
              <a:t>Источники: https://spamassassin.apache.org/old/publiccorpus/readme.html</a:t>
            </a:r>
          </a:p>
          <a:p xmlns:a="http://schemas.openxmlformats.org/drawingml/2006/main">
            <a:r>
              <a:t>https://raw.githubusercontent.com/oreilly-japan/ml-security-jp/master/ch02/lingspam_public.tar.gz</a:t>
            </a:r>
          </a:p>
          <a:p xmlns:a="http://schemas.openxmlformats.org/drawingml/2006/main">
            <a:r>
              <a:t>https://scikit-learn.org/stable/modules/feature_extraction.html</a:t>
            </a:r>
          </a:p>
          <a:p xmlns:a="http://schemas.openxmlformats.org/drawingml/2006/main">
            <a:r>
              <a:t>https://scikit-learn.org/stable/modules/naive_bayes.html</a:t>
            </a:r>
          </a:p>
          <a:p xmlns:a="http://schemas.openxmlformats.org/drawingml/2006/main">
            <a:r>
              <a:t>Результаты: reports/metrics.json, reports/test_predictions.csv. Seed=42.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Дополнительная модель: TF-IDF + LogisticRegression. Категории advertising, jobs, dating, fraud, ordinary. 40 искусственных базовых текстов и четыре оформления каждого, всего 160 примеров. GroupKFold держит варианты одного базового текста в одном фолде. Mean macro-F1 отражает только искусственный набор. Размеченных реальных категорий в тесте преподавателя нет. Категории могут пересекаться, в реализации выбирается одна.</a:t>
            </a:r>
          </a:p>
          <a:p xmlns:a="http://schemas.openxmlformats.org/drawingml/2006/main">
            <a:r>
              <a:t>Источники: https://spamassassin.apache.org/old/publiccorpus/readme.html</a:t>
            </a:r>
          </a:p>
          <a:p xmlns:a="http://schemas.openxmlformats.org/drawingml/2006/main">
            <a:r>
              <a:t>https://raw.githubusercontent.com/oreilly-japan/ml-security-jp/master/ch02/lingspam_public.tar.gz</a:t>
            </a:r>
          </a:p>
          <a:p xmlns:a="http://schemas.openxmlformats.org/drawingml/2006/main">
            <a:r>
              <a:t>https://scikit-learn.org/stable/modules/feature_extraction.html</a:t>
            </a:r>
          </a:p>
          <a:p xmlns:a="http://schemas.openxmlformats.org/drawingml/2006/main">
            <a:r>
              <a:t>https://scikit-learn.org/stable/modules/naive_bayes.html</a:t>
            </a:r>
          </a:p>
          <a:p xmlns:a="http://schemas.openxmlformats.org/drawingml/2006/main">
            <a:r>
              <a:t>Результаты: reports/metrics.json, reports/test_predictions.csv. Seed=42.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Оформление не сверено с исходным шаблоном: доступ к метаданным Яндекс Диска есть, скачивание файла завершается тайм-аутом. Автор должен проверить соответствие требованиям и состав команды. ИИ использовался для подготовки кода, экспериментов и материалов. По условиям задания автор должен осмысленно проверить результат и сформулировать собственные выводы. Публичный доступ преподавателя к презентации нужно проверить перед сдачей.</a:t>
            </a:r>
          </a:p>
          <a:p xmlns:a="http://schemas.openxmlformats.org/drawingml/2006/main">
            <a:r>
              <a:t>Источники: https://spamassassin.apache.org/old/publiccorpus/readme.html</a:t>
            </a:r>
          </a:p>
          <a:p xmlns:a="http://schemas.openxmlformats.org/drawingml/2006/main">
            <a:r>
              <a:t>https://raw.githubusercontent.com/oreilly-japan/ml-security-jp/master/ch02/lingspam_public.tar.gz</a:t>
            </a:r>
          </a:p>
          <a:p xmlns:a="http://schemas.openxmlformats.org/drawingml/2006/main">
            <a:r>
              <a:t>https://scikit-learn.org/stable/modules/feature_extraction.html</a:t>
            </a:r>
          </a:p>
          <a:p xmlns:a="http://schemas.openxmlformats.org/drawingml/2006/main">
            <a:r>
              <a:t>https://scikit-learn.org/stable/modules/naive_bayes.html</a:t>
            </a:r>
          </a:p>
          <a:p xmlns:a="http://schemas.openxmlformats.org/drawingml/2006/main">
            <a:r>
              <a:t>Результаты: reports/metrics.json, reports/test_predictions.csv. Seed=42.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f9eef531804b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0d1bb24f76458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3452e2033542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4efbe45deb4aa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aa396de2bd41e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1ba0b3bf8549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9F20EF-703F-409E-9CED-FDF7473D7A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531A92D-52B0-434E-ACB3-654BF082A9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8D0AEB4-6DBD-4D94-A3ED-447E69C6E0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19A023-212C-4A56-828D-45241C6D14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2F24DD9-1719-4784-A115-D125346801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7E49015-484D-41FA-ABC2-6070C7C56E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21993C-7FDA-4DBD-88C6-F754F8A097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6B1D8D3-386D-4F1C-AF7F-A671AD46AC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DB2E57-67C1-4D54-BC28-93390EBCFD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8507202-48A5-4688-8228-303A722357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0a99c4fbb443b0" /><Relationship Type="http://schemas.openxmlformats.org/officeDocument/2006/relationships/slideLayout" Target="/ppt/slideLayouts/slideLayout1.xml" Id="R3ff2146232024c82" /><Relationship Type="http://schemas.openxmlformats.org/officeDocument/2006/relationships/slideLayout" Target="/ppt/slideLayouts/slideLayout2.xml" Id="Ra4dd571c33ed4ca1" /><Relationship Type="http://schemas.openxmlformats.org/officeDocument/2006/relationships/slideLayout" Target="/ppt/slideLayouts/slideLayout3.xml" Id="Rfdda417d47644789" /><Relationship Type="http://schemas.openxmlformats.org/officeDocument/2006/relationships/slideLayout" Target="/ppt/slideLayouts/slideLayout4.xml" Id="R0ba9720df08d431e" /><Relationship Type="http://schemas.openxmlformats.org/officeDocument/2006/relationships/slideLayout" Target="/ppt/slideLayouts/slideLayout5.xml" Id="R020f671a324a41c7" /><Relationship Type="http://schemas.openxmlformats.org/officeDocument/2006/relationships/slideLayout" Target="/ppt/slideLayouts/slideLayout6.xml" Id="R6d3cc0361abc43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f2146232024c82"/>
    <p:sldLayoutId xmlns:r="http://schemas.openxmlformats.org/officeDocument/2006/relationships" id="2147483650" r:id="Ra4dd571c33ed4ca1"/>
    <p:sldLayoutId xmlns:r="http://schemas.openxmlformats.org/officeDocument/2006/relationships" id="2147483651" r:id="Rfdda417d47644789"/>
    <p:sldLayoutId xmlns:r="http://schemas.openxmlformats.org/officeDocument/2006/relationships" id="2147483652" r:id="R0ba9720df08d431e"/>
    <p:sldLayoutId xmlns:r="http://schemas.openxmlformats.org/officeDocument/2006/relationships" id="2147483653" r:id="R020f671a324a41c7"/>
    <p:sldLayoutId xmlns:r="http://schemas.openxmlformats.org/officeDocument/2006/relationships" id="2147483654" r:id="R6d3cc0361abc43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a879ec7ace4397" /><Relationship Type="http://schemas.openxmlformats.org/officeDocument/2006/relationships/notesSlide" Target="/ppt/notesSlides/notesSlide1.xml" Id="Rcaec3fb622e04f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1080989e954719" /><Relationship Type="http://schemas.openxmlformats.org/officeDocument/2006/relationships/notesSlide" Target="/ppt/notesSlides/notesSlide2.xml" Id="Rce95e905c33a4c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e0c17825324c07" /><Relationship Type="http://schemas.openxmlformats.org/officeDocument/2006/relationships/notesSlide" Target="/ppt/notesSlides/notesSlide3.xml" Id="Rc858e8307a044a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f23adbbd654a37" /><Relationship Type="http://schemas.openxmlformats.org/officeDocument/2006/relationships/notesSlide" Target="/ppt/notesSlides/notesSlide4.xml" Id="R836f1f083a274b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e8a5d01eef4d7b" /><Relationship Type="http://schemas.openxmlformats.org/officeDocument/2006/relationships/notesSlide" Target="/ppt/notesSlides/notesSlide5.xml" Id="R96413455c18f4f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b29c054521428e" /><Relationship Type="http://schemas.openxmlformats.org/officeDocument/2006/relationships/notesSlide" Target="/ppt/notesSlides/notesSlide6.xml" Id="R626c56bc7bae46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2bd948b9a146ac" /><Relationship Type="http://schemas.openxmlformats.org/officeDocument/2006/relationships/notesSlide" Target="/ppt/notesSlides/notesSlide7.xml" Id="Rd4ab598557e846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473869ee1344c9" /><Relationship Type="http://schemas.openxmlformats.org/officeDocument/2006/relationships/notesSlide" Target="/ppt/notesSlides/notesSlide8.xml" Id="R1496cf6390594c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4653e50eb34ee4" /><Relationship Type="http://schemas.openxmlformats.org/officeDocument/2006/relationships/notesSlide" Target="/ppt/notesSlides/notesSlide9.xml" Id="R61da3521813e46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bb319ea14f4ac0" /><Relationship Type="http://schemas.openxmlformats.org/officeDocument/2006/relationships/notesSlide" Target="/ppt/notesSlides/notesSlide10.xml" Id="Rffe664dea3be46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f1f7e55c1245d0" /><Relationship Type="http://schemas.openxmlformats.org/officeDocument/2006/relationships/notesSlide" Target="/ppt/notesSlides/notesSlide11.xml" Id="R60752d242b4e41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431d41b0584011" /><Relationship Type="http://schemas.openxmlformats.org/officeDocument/2006/relationships/notesSlide" Target="/ppt/notesSlides/notesSlide12.xml" Id="R8727454dd7fb41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133E5437-3D59-40D0-9769-2DCEAC9F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Распознавание спама</a:t>
            </a:r>
          </a:p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методами NLP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6A80B00-A04F-41CD-9C25-F55251DF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D088633-66E8-4F38-B9CC-E1C6DA7F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Итоговое задание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6F0A978-172E-4185-BDCB-D93CAF7F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052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Нарчук Гордей Александрович</a:t>
            </a:r>
          </a:p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Группа МКБ251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310C93F-C7F5-43E9-98E4-F4FACFB3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19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14496344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28F686AD-525C-403C-881D-E3F773DF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Задача и организация работы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43A9ECF-6CE3-4323-810F-894E7BAD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3A65955-09D2-4835-8BA0-B226A0CA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Цель: отличать спам от обычной почты по теме и тексту письма.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89D66D3-D41A-4B24-82AC-AF788E25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Главный риск: потеря обычного письма из-за ложного срабатывания.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4E16A0F-D522-4A0F-8BB6-5EA5234E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Работы: подготовка данных, эксперименты и упаковка модели.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8CA2210-0440-493B-BFAD-322CF0AA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Результат: код, обученная модель, FastAPI, Docker и веб-демо.</a:t>
            </a:r>
          </a:p>
        </p:txBody>
      </p:sp>
    </p:spTree>
    <p:extLst>
      <p:ext uri="{BB962C8B-B14F-4D97-AF65-F5344CB8AC3E}">
        <p14:creationId xmlns:p14="http://schemas.microsoft.com/office/powerpoint/2010/main" val="1608337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22FECFE9-5D70-4FE1-A28E-F41EF250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Варианты антиспам-фильтра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34352CF-DECB-46FC-BC72-94E8D7EA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2A860-D206-415F-92F4-911D4D014B50}"/>
              </a:ext>
            </a:extLst>
          </p:cNvPr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3429000"/>
                <a:gridCol w="3448050"/>
              </a:tblGrid>
              <a:tr h="6096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Подход</a:t>
                      </a:r>
                    </a:p>
                  </a:txBody>
                  <a:tcPr marL="91440" marR="91440" marT="45720" marB="45720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Сильная сторона</a:t>
                      </a:r>
                    </a:p>
                  </a:txBody>
                  <a:tcPr marL="91440" marR="91440" marT="45720" marB="45720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Ограничение</a:t>
                      </a:r>
                    </a:p>
                  </a:txBody>
                  <a:tcPr marL="91440" marR="91440" marT="45720" marB="45720">
                    <a:solidFill>
                      <a:srgbClr val="E9EDF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Правила / SpamAssassin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Явные признаки писем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Поддержка набора правил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TF-IDF + Naive Bayes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Быстрое обучение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Зависимость от лексики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TF-IDF + логистическая регрессия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Линейная модель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Слабый учёт контекста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Трансформер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Контекст текста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Больше ресурсов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09006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F28DEEBB-75F6-463D-BBCB-0EC40813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Обучающие и тестовые данные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AEBCE47-AE32-48CF-B77D-6B12A305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48401-B8BF-486A-A025-BFE75712D9F6}"/>
              </a:ext>
            </a:extLst>
          </p:cNvPr>
          <p:cNvGraphicFramePr/>
          <p:nvPr/>
        </p:nvGraphicFramePr>
        <p:xfrm>
          <a:off xmlns:a="http://schemas.openxmlformats.org/drawingml/2006/main" x="609600" y="1733550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810500"/>
                <a:gridCol w="3162300"/>
              </a:tblGrid>
              <a:tr h="6096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Источник</a:t>
                      </a:r>
                    </a:p>
                  </a:txBody>
                  <a:tcPr marL="91440" marR="91440" marT="45720" marB="45720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Писем после очистки</a:t>
                      </a:r>
                    </a:p>
                  </a:txBody>
                  <a:tcPr marL="91440" marR="91440" marT="45720" marB="45720">
                    <a:solidFill>
                      <a:srgbClr val="E9EDF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SpamAssassin: easy / hard ham, spam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3249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LingSpam: bare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2876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Итого для разбиения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6125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Обучение / валидация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4900 / 1225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B6878410-86ED-4866-B2EC-4E1A408D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Тест преподавателя: 1600 файлов, 1598 непустых писем.</a:t>
            </a:r>
          </a:p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600 ham, 998 spam. Два пустых письма исключены.</a:t>
            </a:r>
          </a:p>
        </p:txBody>
      </p:sp>
    </p:spTree>
    <p:extLst>
      <p:ext uri="{BB962C8B-B14F-4D97-AF65-F5344CB8AC3E}">
        <p14:creationId xmlns:p14="http://schemas.microsoft.com/office/powerpoint/2010/main" val="18550585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2F0A326B-15D2-4D75-A965-0B17F615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Обработка и контроль утечки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386E96F-8EBA-4084-9C17-78100678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16EB654-37F3-4E5E-9DFF-34C3EB4F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Тема и текст письма. HTML преобразуется в обычный текст.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0571D06-40FD-4038-A57A-FB3B6CB9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Вложения и служебные антиспам-заголовки не входят в признаки.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3590A06-D106-411C-A515-DB97E6AC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Удалены 1306 совпадений с тестом и 161 повтор внутри обучения.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275F216-AB61-405D-84BB-0F133624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Разбиение 80/20 со стратификацией. TF-IDF обучается внутри Pipeline.</a:t>
            </a:r>
          </a:p>
        </p:txBody>
      </p:sp>
    </p:spTree>
    <p:extLst>
      <p:ext uri="{BB962C8B-B14F-4D97-AF65-F5344CB8AC3E}">
        <p14:creationId xmlns:p14="http://schemas.microsoft.com/office/powerpoint/2010/main" val="18987185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81366AA9-4A6F-42D3-B97C-3764A271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Сравнение моделей: 5-fold CV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E85E6D5-1FAC-4F4E-972F-E74197EA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A552A-51F6-4117-AD98-B1B2E181F72C}"/>
              </a:ext>
            </a:extLst>
          </p:cNvPr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1828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2095500"/>
                <a:gridCol w="2095500"/>
                <a:gridCol w="2019300"/>
              </a:tblGrid>
              <a:tr h="6096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Модель</a:t>
                      </a:r>
                    </a:p>
                  </a:txBody>
                  <a:tcPr marL="91440" marR="91440" marT="45720" marB="45720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Precision</a:t>
                      </a:r>
                    </a:p>
                  </a:txBody>
                  <a:tcPr marL="91440" marR="91440" marT="45720" marB="45720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E9EDF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ComplementNB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98.13%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95.75%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96.92%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LogisticRegression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98.63%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92.49%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95.45%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3E30DCFB-A7AF-440A-8695-D83A25E4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TF-IDF: слова и пары слов, до 60 000 признаков.</a:t>
            </a:r>
          </a:p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Кросс-валидация использует только обучающую часть.</a:t>
            </a:r>
          </a:p>
        </p:txBody>
      </p:sp>
    </p:spTree>
    <p:extLst>
      <p:ext uri="{BB962C8B-B14F-4D97-AF65-F5344CB8AC3E}">
        <p14:creationId xmlns:p14="http://schemas.microsoft.com/office/powerpoint/2010/main" val="5449416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375C32E5-1643-41FB-8ED8-9AAC5C6C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Выбор порога на валидации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B4D63C3-33D0-4795-BCA1-E973BC8D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05CAB16-8737-4533-BA3D-E50CB67F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Выбрана ComplementNB. Порог спама: 0.57.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8B06275-722A-4771-99E0-EC3146FB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Ограничение: не более 1% ложных срабатываний на валидации.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DBF35A3-4862-4BAB-9D97-0FC4A996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Валидация: 8 ошибок на 896 обычных письмах.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9ECE098-98CF-4FE9-9777-A1A8FBA1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F1 на валидации: 96.31%. Тест не участвует в выборе порога.</a:t>
            </a:r>
          </a:p>
        </p:txBody>
      </p:sp>
    </p:spTree>
    <p:extLst>
      <p:ext uri="{BB962C8B-B14F-4D97-AF65-F5344CB8AC3E}">
        <p14:creationId xmlns:p14="http://schemas.microsoft.com/office/powerpoint/2010/main" val="73819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7BA6823B-7268-47D1-85D6-6B8BB074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Результат на тесте преподавателя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9A46ECC-84FB-4744-B7A8-7C90358E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46C03-E1A2-40B6-9FAA-48E3014563C6}"/>
              </a:ext>
            </a:extLst>
          </p:cNvPr>
          <p:cNvGraphicFramePr/>
          <p:nvPr/>
        </p:nvGraphicFramePr>
        <p:xfrm>
          <a:off xmlns:a="http://schemas.openxmlformats.org/drawingml/2006/main" x="609600" y="1733550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0"/>
                <a:gridCol w="3352800"/>
              </a:tblGrid>
              <a:tr h="6096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Метрика</a:t>
                      </a:r>
                    </a:p>
                  </a:txBody>
                  <a:tcPr marL="91440" marR="91440" marT="45720" marB="45720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Значение</a:t>
                      </a:r>
                    </a:p>
                  </a:txBody>
                  <a:tcPr marL="91440" marR="91440" marT="45720" marB="45720">
                    <a:solidFill>
                      <a:srgbClr val="E9EDF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Precision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99.34%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90.98%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94.98%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FPR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EBD7470C-87A5-443F-A7A5-2DE8826E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6 обычных писем попали в спам. 90 спам-писем пропущены.</a:t>
            </a:r>
          </a:p>
        </p:txBody>
      </p:sp>
    </p:spTree>
    <p:extLst>
      <p:ext uri="{BB962C8B-B14F-4D97-AF65-F5344CB8AC3E}">
        <p14:creationId xmlns:p14="http://schemas.microsoft.com/office/powerpoint/2010/main" val="11645915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CB15DF4B-BF8F-47C8-9CBD-BF82F112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Матрица ошибок и ограничения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E60345B-CC76-4CCA-8B10-43BD62A0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203A3-8258-4532-ABD7-FC8FFD6E5F4C}"/>
              </a:ext>
            </a:extLst>
          </p:cNvPr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1828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3105150"/>
                <a:gridCol w="3105150"/>
              </a:tblGrid>
              <a:tr h="6096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Истинный класс</a:t>
                      </a:r>
                    </a:p>
                  </a:txBody>
                  <a:tcPr marL="91440" marR="91440" marT="45720" marB="45720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Предсказано ham</a:t>
                      </a:r>
                    </a:p>
                  </a:txBody>
                  <a:tcPr marL="91440" marR="91440" marT="45720" marB="45720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Предсказано spam</a:t>
                      </a:r>
                    </a:p>
                  </a:txBody>
                  <a:tcPr marL="91440" marR="91440" marT="45720" marB="45720">
                    <a:solidFill>
                      <a:srgbClr val="E9EDF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594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Spam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090A8478-002E-442C-A95C-83B204DA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Цена выбранного порога: меньше потерь обычной почты,</a:t>
            </a:r>
          </a:p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но часть спама остаётся во входящих.</a:t>
            </a:r>
          </a:p>
        </p:txBody>
      </p:sp>
    </p:spTree>
    <p:extLst>
      <p:ext uri="{BB962C8B-B14F-4D97-AF65-F5344CB8AC3E}">
        <p14:creationId xmlns:p14="http://schemas.microsoft.com/office/powerpoint/2010/main" val="7325065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84AAB804-FFD4-40B5-98A3-D0F6242E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Микросервис и веб-демо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49EC826-3BC0-4754-BD01-A48FF9BE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44B9BEE-DB35-4D06-B4D5-6FB67947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https://antispam-nlp-study.swoonyjoy17.chatgpt.site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E1C7BEA-6B0B-4EE0-9E58-2CCC6A60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FastAPI: POST /predict, GET /health, интерактивная документация.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EEAE8D5-552D-4F29-BA2E-08326614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Dockerfile с запуском от отдельного пользователя.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1E828CB-8829-42E4-9C76-C3E64AC8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Веб-демо исполняет экспортированную модель в браузере.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73FE7FF-0FA7-463A-B92C-9493C078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Проверки: API, ограничения ввода, MIME-вложения, HTML и паритет.</a:t>
            </a:r>
          </a:p>
        </p:txBody>
      </p:sp>
    </p:spTree>
    <p:extLst>
      <p:ext uri="{BB962C8B-B14F-4D97-AF65-F5344CB8AC3E}">
        <p14:creationId xmlns:p14="http://schemas.microsoft.com/office/powerpoint/2010/main" val="12891730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79A03E9F-8A9A-4907-A37C-7DAA77E8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Дополнительно: категории писем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8E44AFD-0E36-4F6A-B7AC-8E1FEF24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EBAC3A8-5BD7-445D-A3B7-32578A90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Категории: реклама, работа, знакомства, мошенничество, обычная почта.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EFFE068-AEA5-41C0-AA3F-7FDAB175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Данные: 40 искусственных текстов, 160 примеров с вариантами оформления.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BFC71D5-C206-42F7-A6BE-49D8714B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Групповая CV: macro-F1 = 0.580 на искусственных данных.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4CB37C6-08A0-44DD-AA64-511E68E8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Для подтверждения качества нужна ручная разметка реальных писем.</a:t>
            </a:r>
          </a:p>
        </p:txBody>
      </p:sp>
    </p:spTree>
    <p:extLst>
      <p:ext uri="{BB962C8B-B14F-4D97-AF65-F5344CB8AC3E}">
        <p14:creationId xmlns:p14="http://schemas.microsoft.com/office/powerpoint/2010/main" val="15516401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15E9990D-3292-4692-A784-0A10C5E8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Выводы и дальнейшая работа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E9FC100-84F1-49BF-985B-A1B4B58B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B367CFA-D926-40B4-9395-3EA4D507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Основная модель: Precision 99.34%, F1 94.98%.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89F0C1A-9C68-47C9-A077-044AC60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Результат получен после удаления точных совпадений с тестом.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ACA2A53-1FA7-461E-9AD0-10BFA371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Следующий шаг: реальные категории и свежая русскоязычная почта.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92E1A07-8F3B-4C1F-B359-D430BC44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ИИ помог подготовить проект. Выводы нужно проверить перед защитой.</a:t>
            </a:r>
          </a:p>
        </p:txBody>
      </p:sp>
    </p:spTree>
    <p:extLst>
      <p:ext uri="{BB962C8B-B14F-4D97-AF65-F5344CB8AC3E}">
        <p14:creationId xmlns:p14="http://schemas.microsoft.com/office/powerpoint/2010/main" val="17004333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2026-10-19T19:34:17.4120000Z</dcterms:created>
  <dcterms:modified xsi:type="dcterms:W3CDTF">2026-10-19T19:34:17.4130000Z</dcterms:modified>
</coreProperties>
</file>